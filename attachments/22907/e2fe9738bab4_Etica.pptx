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3"/>
  </p:notesMasterIdLst>
  <p:sldIdLst>
    <p:sldId id="475" r:id="rId3"/>
    <p:sldId id="477" r:id="rId4"/>
    <p:sldId id="479" r:id="rId5"/>
    <p:sldId id="478" r:id="rId6"/>
    <p:sldId id="481" r:id="rId7"/>
    <p:sldId id="482" r:id="rId8"/>
    <p:sldId id="483" r:id="rId9"/>
    <p:sldId id="484" r:id="rId10"/>
    <p:sldId id="485" r:id="rId11"/>
    <p:sldId id="366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COMES04" initials="G" lastIdx="14" clrIdx="0"/>
  <p:cmAuthor id="1" name="Mac OX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24A"/>
    <a:srgbClr val="013C80"/>
    <a:srgbClr val="594019"/>
    <a:srgbClr val="483323"/>
    <a:srgbClr val="9F7832"/>
    <a:srgbClr val="45494A"/>
    <a:srgbClr val="CF3628"/>
    <a:srgbClr val="6C2318"/>
    <a:srgbClr val="92D150"/>
    <a:srgbClr val="FFC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6405" autoAdjust="0"/>
  </p:normalViewPr>
  <p:slideViewPr>
    <p:cSldViewPr>
      <p:cViewPr varScale="1">
        <p:scale>
          <a:sx n="131" d="100"/>
          <a:sy n="131" d="100"/>
        </p:scale>
        <p:origin x="61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2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3E482-29C9-4844-A826-1A7D6776E6D8}" type="datetimeFigureOut">
              <a:rPr lang="es-ES" smtClean="0"/>
              <a:pPr/>
              <a:t>12/1/21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0AEE9-7C46-8D4A-9F38-8F8B1DB4685F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318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  <p:pic>
        <p:nvPicPr>
          <p:cNvPr id="8" name="Picture 2" descr="C:\Users\CATERINA\Desktop\PROYECTOS 2020\IMAGEN PRESENTACION PPT V2 - ENERO-20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545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4649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58197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56396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07260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293806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9930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86864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425457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79875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166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5C98-2858-4BC5-94E7-E5533469F7C9}" type="datetimeFigureOut">
              <a:rPr lang="es-CO" smtClean="0"/>
              <a:pPr/>
              <a:t>12/01/21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27E7F-A3C8-48B8-A8E2-2ED399C0369A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C2941-A40E-49DD-8C53-E533DDEBADED}" type="datetimeFigureOut">
              <a:rPr lang="es-CO" smtClean="0"/>
              <a:pPr/>
              <a:t>12/01/21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4801B-E762-42E5-9189-0C62F034CCFE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9587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61837" t="19858" r="25663" b="35698"/>
          <a:stretch/>
        </p:blipFill>
        <p:spPr>
          <a:xfrm>
            <a:off x="2123728" y="764704"/>
            <a:ext cx="5184576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0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CuadroTexto"/>
          <p:cNvSpPr txBox="1"/>
          <p:nvPr/>
        </p:nvSpPr>
        <p:spPr>
          <a:xfrm>
            <a:off x="179512" y="1340768"/>
            <a:ext cx="27222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Gill Sans"/>
                <a:cs typeface="Gill Sans"/>
              </a:rPr>
              <a:t>LO QUE SE PLANEÓ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69603" y="1124744"/>
            <a:ext cx="87129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Ley No 1862 del 4 de Agosto de 2017</a:t>
            </a:r>
          </a:p>
          <a:p>
            <a:r>
              <a:rPr lang="es-CO" b="1" dirty="0"/>
              <a:t>Titulo Primero: Conducta y Actuación Militar</a:t>
            </a:r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Capitulo 1: Normas de Conducta Militar.</a:t>
            </a:r>
          </a:p>
          <a:p>
            <a:endParaRPr lang="es-CO" dirty="0"/>
          </a:p>
          <a:p>
            <a:r>
              <a:rPr lang="es-CO" dirty="0"/>
              <a:t>Capitulo 2: Normas de Actuación Militar.</a:t>
            </a:r>
          </a:p>
          <a:p>
            <a:endParaRPr lang="es-CO" dirty="0"/>
          </a:p>
          <a:p>
            <a:r>
              <a:rPr lang="es-CO" dirty="0"/>
              <a:t>Capitulo 3: Normas de Actuación Frente a la disciplina.</a:t>
            </a:r>
          </a:p>
          <a:p>
            <a:endParaRPr lang="es-CO" dirty="0"/>
          </a:p>
          <a:p>
            <a:r>
              <a:rPr lang="es-CO" dirty="0"/>
              <a:t>Capitulo 4: Normas de Conducta en el ejercicio del Mando.</a:t>
            </a:r>
          </a:p>
          <a:p>
            <a:endParaRPr lang="es-CO" dirty="0"/>
          </a:p>
          <a:p>
            <a:r>
              <a:rPr lang="es-CO" dirty="0"/>
              <a:t>Capitulo 5: Normas de Conducta en relación con los subalternos.</a:t>
            </a:r>
          </a:p>
          <a:p>
            <a:endParaRPr lang="es-CO" dirty="0"/>
          </a:p>
          <a:p>
            <a:r>
              <a:rPr lang="es-CO" dirty="0"/>
              <a:t>Capitulo 6: Normas de Conducta en relación con el derecho Internacional Humanitario.</a:t>
            </a:r>
          </a:p>
          <a:p>
            <a:endParaRPr lang="es-CO" dirty="0"/>
          </a:p>
          <a:p>
            <a:r>
              <a:rPr lang="es-CO" dirty="0"/>
              <a:t>Capitulo 7: Normas de Conducta en Operaciones de Paz, Seguridad y Ayuda Humanitaria</a:t>
            </a:r>
          </a:p>
        </p:txBody>
      </p:sp>
    </p:spTree>
    <p:extLst>
      <p:ext uri="{BB962C8B-B14F-4D97-AF65-F5344CB8AC3E}">
        <p14:creationId xmlns:p14="http://schemas.microsoft.com/office/powerpoint/2010/main" val="41497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CuadroTexto"/>
          <p:cNvSpPr txBox="1"/>
          <p:nvPr/>
        </p:nvSpPr>
        <p:spPr>
          <a:xfrm>
            <a:off x="179512" y="1340768"/>
            <a:ext cx="27222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Gill Sans"/>
                <a:cs typeface="Gill Sans"/>
              </a:rPr>
              <a:t>LO QUE SE PLANEÓ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1520" y="5517232"/>
            <a:ext cx="1241695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1487201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576536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360783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5145030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3924851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2702954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/>
          <p:cNvSpPr txBox="1"/>
          <p:nvPr/>
        </p:nvSpPr>
        <p:spPr>
          <a:xfrm>
            <a:off x="27517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1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472674" y="563637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2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27266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3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393249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4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1642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5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6372200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6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7596336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7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75171" y="981883"/>
            <a:ext cx="40808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Capitulo 1: Normas de Conducta Militar.</a:t>
            </a:r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Deber fundamental del militar.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Comportamiento Militar.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Disciplina Militar.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Condición del Militar.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Principios de la Condición Militar.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Valores Militares.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Virtudes Militares.</a:t>
            </a:r>
          </a:p>
        </p:txBody>
      </p:sp>
      <p:pic>
        <p:nvPicPr>
          <p:cNvPr id="1026" name="Picture 2" descr="Revista Armada by Revista Armada - issu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242" y="1202950"/>
            <a:ext cx="3054834" cy="3843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92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CuadroTexto"/>
          <p:cNvSpPr txBox="1"/>
          <p:nvPr/>
        </p:nvSpPr>
        <p:spPr>
          <a:xfrm>
            <a:off x="179512" y="1340768"/>
            <a:ext cx="27222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solidFill>
                  <a:schemeClr val="bg1"/>
                </a:solidFill>
                <a:latin typeface="Gill Sans"/>
                <a:cs typeface="Gill Sans"/>
              </a:rPr>
              <a:t>LO QUE SE PLANEÓ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1520" y="5517232"/>
            <a:ext cx="1241695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1487201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576536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360783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5145030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3924851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2702954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/>
          <p:cNvSpPr txBox="1"/>
          <p:nvPr/>
        </p:nvSpPr>
        <p:spPr>
          <a:xfrm>
            <a:off x="27517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1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472674" y="563637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2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27266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3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393249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4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1642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5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6372200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6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7596336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7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4348000" y="1052736"/>
            <a:ext cx="40808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Capitulo 1: Normas de Conducta Militar.</a:t>
            </a:r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Probidad Militar.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La orden Militar.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Orden Ilegitima.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Oportunidad de la orden.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Conducto Regular.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Restablecimiento del conducto regular.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endParaRPr lang="es-CO" dirty="0"/>
          </a:p>
        </p:txBody>
      </p:sp>
      <p:pic>
        <p:nvPicPr>
          <p:cNvPr id="1028" name="Picture 4" descr="Valores: www.armada.mil.co | Justicia | Crimen y violenc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3752371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12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CuadroTexto"/>
          <p:cNvSpPr txBox="1"/>
          <p:nvPr/>
        </p:nvSpPr>
        <p:spPr>
          <a:xfrm>
            <a:off x="107504" y="991756"/>
            <a:ext cx="4857292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dirty="0"/>
              <a:t>Capitulo 2: Normas de Actuación Militar.</a:t>
            </a:r>
          </a:p>
          <a:p>
            <a:endParaRPr lang="es-CO" sz="2000" dirty="0"/>
          </a:p>
          <a:p>
            <a:r>
              <a:rPr lang="es-CO" sz="2000" dirty="0"/>
              <a:t>Funciones del Militar:</a:t>
            </a:r>
            <a:endParaRPr lang="es-CO" sz="2000" b="1" dirty="0"/>
          </a:p>
          <a:p>
            <a:endParaRPr lang="es-CO" sz="2000" b="1" dirty="0"/>
          </a:p>
          <a:p>
            <a:pPr marL="342900" indent="-342900">
              <a:buFontTx/>
              <a:buChar char="-"/>
            </a:pPr>
            <a:r>
              <a:rPr lang="es-CO" sz="2000" dirty="0"/>
              <a:t>Formación.</a:t>
            </a:r>
          </a:p>
          <a:p>
            <a:pPr marL="342900" indent="-342900">
              <a:buFontTx/>
              <a:buChar char="-"/>
            </a:pPr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/>
              <a:t>Competencia profesional.</a:t>
            </a:r>
          </a:p>
          <a:p>
            <a:pPr marL="342900" indent="-342900">
              <a:buFontTx/>
              <a:buChar char="-"/>
            </a:pPr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/>
              <a:t>Conducto Regular</a:t>
            </a:r>
          </a:p>
          <a:p>
            <a:pPr marL="342900" indent="-342900">
              <a:buFontTx/>
              <a:buChar char="-"/>
            </a:pPr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/>
              <a:t>Acatamiento y transmisión de la decisión.</a:t>
            </a:r>
          </a:p>
          <a:p>
            <a:pPr marL="342900" indent="-342900">
              <a:buFontTx/>
              <a:buChar char="-"/>
            </a:pPr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/>
              <a:t>Relaciones con la población civil.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1520" y="5517232"/>
            <a:ext cx="1241695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1487201" y="5517232"/>
            <a:ext cx="1215753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576536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360783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5145030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3924851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2702954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/>
          <p:cNvSpPr txBox="1"/>
          <p:nvPr/>
        </p:nvSpPr>
        <p:spPr>
          <a:xfrm>
            <a:off x="27517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1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472674" y="563637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2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27266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3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393249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4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1642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5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6372200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6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7596336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7</a:t>
            </a:r>
          </a:p>
        </p:txBody>
      </p:sp>
      <p:pic>
        <p:nvPicPr>
          <p:cNvPr id="1026" name="Picture 2" descr="Huracán Iota devasta Providencia: Colombia afronta la devastación de  Providencia por paso de huracán Iota | Nacional | Caracol Radi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677" y="1019244"/>
            <a:ext cx="3293050" cy="190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ando Específico de San Andrés y Providencia | Coman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677" y="2924944"/>
            <a:ext cx="3277612" cy="208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46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1520" y="5517232"/>
            <a:ext cx="1241695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1487201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576536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360783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5145030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3924851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2702954" y="5517232"/>
            <a:ext cx="1215753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/>
          <p:cNvSpPr txBox="1"/>
          <p:nvPr/>
        </p:nvSpPr>
        <p:spPr>
          <a:xfrm>
            <a:off x="27517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1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472674" y="563637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2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27266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3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393249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4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1642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5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6372200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6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7596336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7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43840" y="1288839"/>
            <a:ext cx="53285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Capitulo 3: Normas de Actuación Frente a la disciplina.</a:t>
            </a:r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Cumplimiento de Ordenes.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Instrucciones y Ordenes de autoridades.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Limites de la obediencia.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Objeción sobre ordenes recibidas.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Forma de Corregir.</a:t>
            </a:r>
          </a:p>
        </p:txBody>
      </p:sp>
      <p:pic>
        <p:nvPicPr>
          <p:cNvPr id="2050" name="Picture 2" descr="Coveñas | Comand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987" y="2245619"/>
            <a:ext cx="3793302" cy="272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29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1520" y="5517232"/>
            <a:ext cx="1241695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1487201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576536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360783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5145030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3924851" y="5517232"/>
            <a:ext cx="1215753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2702954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/>
          <p:cNvSpPr txBox="1"/>
          <p:nvPr/>
        </p:nvSpPr>
        <p:spPr>
          <a:xfrm>
            <a:off x="27517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1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472674" y="563637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2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27266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3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393249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4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1642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5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6372200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6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7596336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7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75544" y="908720"/>
            <a:ext cx="570079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Capitulo 4: Normas de Conducta en el ejercicio del Mando.</a:t>
            </a:r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Estilo de Mando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Liderazgo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Responsabilidad en el ejercicio del Mando.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Capacidad para el combate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Capacidad de decisión, iniciativa y creatividad.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Toma de decisiones.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Transmisión de Ordenes.</a:t>
            </a:r>
          </a:p>
        </p:txBody>
      </p:sp>
      <p:pic>
        <p:nvPicPr>
          <p:cNvPr id="3074" name="Picture 2" descr="Armada de Colombia incauta más de una tonelada de clorhidrato de cocaína, en Córdob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12776"/>
            <a:ext cx="3888432" cy="374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213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1520" y="5517232"/>
            <a:ext cx="1241695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1487201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576536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360783" y="5517232"/>
            <a:ext cx="121575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5145030" y="5517232"/>
            <a:ext cx="1215753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3924851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2702954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/>
          <p:cNvSpPr txBox="1"/>
          <p:nvPr/>
        </p:nvSpPr>
        <p:spPr>
          <a:xfrm>
            <a:off x="27517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1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472674" y="563637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2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27266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3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393249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4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1642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5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6372200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6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7596336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7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75544" y="908720"/>
            <a:ext cx="623856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Capitulo 5: Normas de Conducta en relacion con los subalternos.</a:t>
            </a:r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Conocimiento de la organización por los subalternos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Respeto a las funciones de los subalternos.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Motivacion de los subalternos.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Respecto del espiritu de cuerpo.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Convivencia en su unidad.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Seguridad en el trabajo.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Actividades culturales, deportivas y recreativas.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DCF2C0-12FA-0544-B42D-ED2887C51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752600"/>
            <a:ext cx="3658256" cy="297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15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07704" y="44624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</a:rPr>
              <a:t>Manual de Generalidades Éticas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51520" y="5517232"/>
            <a:ext cx="1241695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/>
          <p:cNvSpPr/>
          <p:nvPr/>
        </p:nvSpPr>
        <p:spPr>
          <a:xfrm>
            <a:off x="1487201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576536" y="5517232"/>
            <a:ext cx="1215753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6360783" y="5517232"/>
            <a:ext cx="1215753" cy="5760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5145030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3924851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2702954" y="5517232"/>
            <a:ext cx="1215753" cy="57606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/>
          <p:cNvSpPr txBox="1"/>
          <p:nvPr/>
        </p:nvSpPr>
        <p:spPr>
          <a:xfrm>
            <a:off x="27517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1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472674" y="563637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2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27266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3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3932491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4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164267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5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6372200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6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7596336" y="562059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Capitulo 7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1499307" y="974919"/>
            <a:ext cx="6172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Capitulo 6: Normas de Conducta en relacion con el DIH.</a:t>
            </a:r>
          </a:p>
          <a:p>
            <a:pPr algn="just"/>
            <a:r>
              <a:rPr lang="es-CO" dirty="0"/>
              <a:t>Capitulo 7: Normas de Conducta en Operaciones de Paz.</a:t>
            </a:r>
          </a:p>
          <a:p>
            <a:pPr algn="just"/>
            <a:endParaRPr lang="es-CO" dirty="0"/>
          </a:p>
          <a:p>
            <a:pPr marL="285750" indent="-285750" algn="just">
              <a:buFontTx/>
              <a:buChar char="-"/>
            </a:pPr>
            <a:r>
              <a:rPr lang="es-CO" dirty="0"/>
              <a:t>Proteccion de heridos , enfermos, naufragos, y poblacion civil</a:t>
            </a:r>
          </a:p>
          <a:p>
            <a:pPr marL="285750" indent="-285750" algn="just">
              <a:buFontTx/>
              <a:buChar char="-"/>
            </a:pPr>
            <a:endParaRPr lang="es-CO" dirty="0"/>
          </a:p>
          <a:p>
            <a:pPr marL="285750" indent="-285750" algn="just">
              <a:buFontTx/>
              <a:buChar char="-"/>
            </a:pPr>
            <a:r>
              <a:rPr lang="es-CO" dirty="0"/>
              <a:t>Principio de distincion</a:t>
            </a:r>
          </a:p>
          <a:p>
            <a:pPr marL="285750" indent="-285750" algn="just">
              <a:buFontTx/>
              <a:buChar char="-"/>
            </a:pPr>
            <a:endParaRPr lang="es-CO" dirty="0"/>
          </a:p>
          <a:p>
            <a:pPr marL="285750" indent="-285750" algn="just">
              <a:buFontTx/>
              <a:buChar char="-"/>
            </a:pPr>
            <a:r>
              <a:rPr lang="es-CO" dirty="0"/>
              <a:t>Proteccion de medios culturales.</a:t>
            </a:r>
          </a:p>
          <a:p>
            <a:pPr marL="285750" indent="-285750" algn="just">
              <a:buFontTx/>
              <a:buChar char="-"/>
            </a:pPr>
            <a:endParaRPr lang="es-CO" dirty="0"/>
          </a:p>
          <a:p>
            <a:pPr marL="285750" indent="-285750" algn="just">
              <a:buFontTx/>
              <a:buChar char="-"/>
            </a:pPr>
            <a:r>
              <a:rPr lang="es-CO" dirty="0"/>
              <a:t>Conocer y acatar las reglas de enfrentamiento.</a:t>
            </a:r>
          </a:p>
          <a:p>
            <a:pPr marL="285750" indent="-285750" algn="just">
              <a:buFontTx/>
              <a:buChar char="-"/>
            </a:pPr>
            <a:endParaRPr lang="es-CO" dirty="0"/>
          </a:p>
          <a:p>
            <a:pPr marL="285750" indent="-285750" algn="just">
              <a:buFontTx/>
              <a:buChar char="-"/>
            </a:pPr>
            <a:r>
              <a:rPr lang="es-CO" dirty="0"/>
              <a:t>Colaborar, dentro de las posibilidades de la mision encomendada a aquellas organizaciones en pro de la paz, seguridad y ayuda humanitaria.</a:t>
            </a:r>
          </a:p>
        </p:txBody>
      </p:sp>
    </p:spTree>
    <p:extLst>
      <p:ext uri="{BB962C8B-B14F-4D97-AF65-F5344CB8AC3E}">
        <p14:creationId xmlns:p14="http://schemas.microsoft.com/office/powerpoint/2010/main" val="141560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Bandera gloria 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-68355"/>
            <a:ext cx="9361040" cy="699188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35896" y="1196751"/>
            <a:ext cx="5328592" cy="7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99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</a:spPr>
      <a:bodyPr/>
      <a:lstStyle/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rgbClr r="0" g="0" b="0"/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cion Etica" id="{81A76A90-E89C-4EFE-9FF6-0E8584B66E64}" vid="{7EE8C54D-5B62-48EA-B045-A358C0B607E1}"/>
    </a:ext>
  </a:extLst>
</a:theme>
</file>

<file path=ppt/theme/theme2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on Etica" id="{81A76A90-E89C-4EFE-9FF6-0E8584B66E64}" vid="{6ED8E643-1E7B-4C4D-9893-D0AE199F6BED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14</TotalTime>
  <Words>543</Words>
  <Application>Microsoft Office PowerPoint</Application>
  <PresentationFormat>On-screen Show (4:3)</PresentationFormat>
  <Paragraphs>171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Tema de Office</vt:lpstr>
      <vt:lpstr>4_Tema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Cesar Fernando Arias Bermudez</dc:creator>
  <cp:lastModifiedBy>CESAR FERNANDO ARIAS BERMUDEZ</cp:lastModifiedBy>
  <cp:revision>3</cp:revision>
  <dcterms:created xsi:type="dcterms:W3CDTF">2021-01-11T22:44:34Z</dcterms:created>
  <dcterms:modified xsi:type="dcterms:W3CDTF">2021-01-12T19:31:30Z</dcterms:modified>
</cp:coreProperties>
</file>