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notesMasterIdLst>
    <p:notesMasterId r:id="rId7"/>
  </p:notesMasterIdLst>
  <p:handoutMasterIdLst>
    <p:handoutMasterId r:id="rId8"/>
  </p:handoutMasterIdLst>
  <p:sldIdLst>
    <p:sldId id="849" r:id="rId2"/>
    <p:sldId id="864" r:id="rId3"/>
    <p:sldId id="851" r:id="rId4"/>
    <p:sldId id="865" r:id="rId5"/>
    <p:sldId id="847" r:id="rId6"/>
  </p:sldIdLst>
  <p:sldSz cx="9144000" cy="5143500" type="screen16x9"/>
  <p:notesSz cx="6797675" cy="9872663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B"/>
    <a:srgbClr val="990000"/>
    <a:srgbClr val="485683"/>
    <a:srgbClr val="FF0000"/>
    <a:srgbClr val="0000FF"/>
    <a:srgbClr val="0F3E98"/>
    <a:srgbClr val="D3AC4D"/>
    <a:srgbClr val="FF3E44"/>
    <a:srgbClr val="D4ECFF"/>
    <a:srgbClr val="CFD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434" autoAdjust="0"/>
  </p:normalViewPr>
  <p:slideViewPr>
    <p:cSldViewPr snapToGrid="0">
      <p:cViewPr varScale="1">
        <p:scale>
          <a:sx n="158" d="100"/>
          <a:sy n="158" d="100"/>
        </p:scale>
        <p:origin x="208" y="36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-83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-1956"/>
    </p:cViewPr>
  </p:sorterViewPr>
  <p:notesViewPr>
    <p:cSldViewPr snapToGrid="0">
      <p:cViewPr varScale="1">
        <p:scale>
          <a:sx n="80" d="100"/>
          <a:sy n="80" d="100"/>
        </p:scale>
        <p:origin x="-1974" y="-78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67EC7-DEC5-4912-AEFC-FD823E384AD7}" type="datetimeFigureOut">
              <a:rPr lang="es-ES" smtClean="0"/>
              <a:t>19/12/18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8B5E9-6A3B-4FCF-9229-D53885B940D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2406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C6346-2D69-4F79-AFA1-D41CE7AB6371}" type="datetimeFigureOut">
              <a:rPr lang="es-ES" smtClean="0"/>
              <a:t>19/12/18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9B4BC-792D-4341-9E31-460078A1926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03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D:\ESDEGUE 2017\Ago 11 Plantilla presentacion gr\portada-1-(16.9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390900" y="16781"/>
            <a:ext cx="4940300" cy="881744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pic>
        <p:nvPicPr>
          <p:cNvPr id="11" name="Picture 2" descr="C:\Users\montanag\Desktop\cgfm_logo-1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4616827"/>
            <a:ext cx="3403600" cy="4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40672" y="101741"/>
            <a:ext cx="643699" cy="72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montanag\Desktop\EscudoFFMM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733" y="4627950"/>
            <a:ext cx="433702" cy="43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26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-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D:\ESDEGUE 2017\Ago 11 Plantilla presentacion gr\portada-1-(16.9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1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1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pic>
        <p:nvPicPr>
          <p:cNvPr id="17" name="Picture 2" descr="C:\Users\montanag\Desktop\cgfm_logo-1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4616827"/>
            <a:ext cx="3403600" cy="470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18 Rectángulo redondeado"/>
          <p:cNvSpPr/>
          <p:nvPr userDrawn="1"/>
        </p:nvSpPr>
        <p:spPr>
          <a:xfrm>
            <a:off x="-319315" y="3347356"/>
            <a:ext cx="4884966" cy="816428"/>
          </a:xfrm>
          <a:prstGeom prst="round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1 Título"/>
          <p:cNvSpPr>
            <a:spLocks noGrp="1"/>
          </p:cNvSpPr>
          <p:nvPr>
            <p:ph type="ctrTitle"/>
          </p:nvPr>
        </p:nvSpPr>
        <p:spPr>
          <a:xfrm>
            <a:off x="3390900" y="16781"/>
            <a:ext cx="4940300" cy="881744"/>
          </a:xfrm>
        </p:spPr>
        <p:txBody>
          <a:bodyPr/>
          <a:lstStyle>
            <a:lvl1pPr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22" name="2 Subtítulo"/>
          <p:cNvSpPr>
            <a:spLocks noGrp="1"/>
          </p:cNvSpPr>
          <p:nvPr>
            <p:ph type="subTitle" idx="1"/>
          </p:nvPr>
        </p:nvSpPr>
        <p:spPr>
          <a:xfrm>
            <a:off x="-1" y="3347356"/>
            <a:ext cx="4565651" cy="816428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 dirty="0"/>
          </a:p>
        </p:txBody>
      </p:sp>
      <p:pic>
        <p:nvPicPr>
          <p:cNvPr id="12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40672" y="101741"/>
            <a:ext cx="643699" cy="720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C:\Users\montanag\Desktop\EscudoFFMM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2733" y="4627950"/>
            <a:ext cx="433702" cy="43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61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inter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ESDEGUE 2017\Ago 11 Plantilla presentacion gr\portada4-(16.9)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4296230" y="340179"/>
            <a:ext cx="4760686" cy="881744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3200" b="1" kern="1200" baseline="0" dirty="0">
                <a:solidFill>
                  <a:schemeClr val="tx2">
                    <a:lumMod val="50000"/>
                  </a:schemeClr>
                </a:solidFill>
                <a:latin typeface="+mj-lt"/>
                <a:ea typeface="ＭＳ Ｐゴシック" charset="0"/>
                <a:cs typeface="+mj-cs"/>
              </a:defRPr>
            </a:lvl1pPr>
          </a:lstStyle>
          <a:p>
            <a:r>
              <a:rPr lang="es-ES" dirty="0"/>
              <a:t>Título del patrón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sp>
        <p:nvSpPr>
          <p:cNvPr id="13" name="2 Subtítulo"/>
          <p:cNvSpPr>
            <a:spLocks noGrp="1"/>
          </p:cNvSpPr>
          <p:nvPr>
            <p:ph type="subTitle" idx="1"/>
          </p:nvPr>
        </p:nvSpPr>
        <p:spPr>
          <a:xfrm>
            <a:off x="5515429" y="2353527"/>
            <a:ext cx="3251200" cy="1218802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 dirty="0"/>
          </a:p>
        </p:txBody>
      </p:sp>
      <p:pic>
        <p:nvPicPr>
          <p:cNvPr id="9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222" y="430923"/>
            <a:ext cx="574551" cy="64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99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0EBD9-7FA6-4AD9-A1DC-047836B64059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09F9D-BECB-478C-9E5E-FDD7CE93686B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771525"/>
            <a:ext cx="8229600" cy="382309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28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9" name="28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30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1 Título"/>
          <p:cNvSpPr>
            <a:spLocks noGrp="1"/>
          </p:cNvSpPr>
          <p:nvPr>
            <p:ph type="title"/>
          </p:nvPr>
        </p:nvSpPr>
        <p:spPr>
          <a:xfrm>
            <a:off x="1327151" y="122590"/>
            <a:ext cx="7397749" cy="324853"/>
          </a:xfrm>
        </p:spPr>
        <p:txBody>
          <a:bodyPr anchor="t"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s-CO" sz="2000" b="1" kern="1200" dirty="0">
                <a:solidFill>
                  <a:schemeClr val="accent1">
                    <a:lumMod val="5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pic>
        <p:nvPicPr>
          <p:cNvPr id="13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89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0EBD9-7FA6-4AD9-A1DC-047836B64059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09F9D-BECB-478C-9E5E-FDD7CE93686B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sp>
        <p:nvSpPr>
          <p:cNvPr id="11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3" name="12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19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93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sp>
        <p:nvSpPr>
          <p:cNvPr id="19" name="18 Rectángulo"/>
          <p:cNvSpPr/>
          <p:nvPr userDrawn="1"/>
        </p:nvSpPr>
        <p:spPr>
          <a:xfrm>
            <a:off x="3214977" y="484053"/>
            <a:ext cx="2714047" cy="3476722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0" name="Picture 2" descr="C:\Users\montanag\Creative Cloud Files\trabajo\redes Sociales ESDEGUE\2017\redessociales_fdo claro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7879" y="4242916"/>
            <a:ext cx="5328243" cy="62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6" name="15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23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00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800101"/>
            <a:ext cx="4038600" cy="37945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800101"/>
            <a:ext cx="4038600" cy="37945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A7B3A-3E10-4584-BEC9-0B7E0DBF4376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EC4F8-7F08-47F0-AED9-17E55B5C518A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sp>
        <p:nvSpPr>
          <p:cNvPr id="13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8" name="17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21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695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976517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456339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976517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456339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F1DFE-2D77-40F8-9117-A95C05DE1198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12DAE-160A-48FF-8E10-094B9E2668A9}" type="slidenum">
              <a:rPr lang="es-CO"/>
              <a:pPr>
                <a:defRPr/>
              </a:pPr>
              <a:t>‹#›</a:t>
            </a:fld>
            <a:endParaRPr lang="es-CO"/>
          </a:p>
        </p:txBody>
      </p:sp>
      <p:sp>
        <p:nvSpPr>
          <p:cNvPr id="18" name="5 Rectángulo"/>
          <p:cNvSpPr/>
          <p:nvPr userDrawn="1"/>
        </p:nvSpPr>
        <p:spPr>
          <a:xfrm>
            <a:off x="1" y="0"/>
            <a:ext cx="1327150" cy="389286"/>
          </a:xfrm>
          <a:custGeom>
            <a:avLst/>
            <a:gdLst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202692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  <a:gd name="connsiteX0" fmla="*/ 0 w 2026920"/>
              <a:gd name="connsiteY0" fmla="*/ 0 h 475371"/>
              <a:gd name="connsiteX1" fmla="*/ 2026920 w 2026920"/>
              <a:gd name="connsiteY1" fmla="*/ 0 h 475371"/>
              <a:gd name="connsiteX2" fmla="*/ 1653540 w 2026920"/>
              <a:gd name="connsiteY2" fmla="*/ 475371 h 475371"/>
              <a:gd name="connsiteX3" fmla="*/ 0 w 2026920"/>
              <a:gd name="connsiteY3" fmla="*/ 475371 h 475371"/>
              <a:gd name="connsiteX4" fmla="*/ 0 w 2026920"/>
              <a:gd name="connsiteY4" fmla="*/ 0 h 47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920" h="475371">
                <a:moveTo>
                  <a:pt x="0" y="0"/>
                </a:moveTo>
                <a:lnTo>
                  <a:pt x="2026920" y="0"/>
                </a:lnTo>
                <a:lnTo>
                  <a:pt x="1653540" y="475371"/>
                </a:lnTo>
                <a:lnTo>
                  <a:pt x="0" y="47537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9" name="18 Grupo"/>
          <p:cNvGrpSpPr/>
          <p:nvPr userDrawn="1"/>
        </p:nvGrpSpPr>
        <p:grpSpPr>
          <a:xfrm>
            <a:off x="-1" y="-26670"/>
            <a:ext cx="9144000" cy="623374"/>
            <a:chOff x="598790" y="-29029"/>
            <a:chExt cx="10645188" cy="725714"/>
          </a:xfrm>
        </p:grpSpPr>
        <p:pic>
          <p:nvPicPr>
            <p:cNvPr id="20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72459" y="-29028"/>
              <a:ext cx="2786744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759202" y="-29028"/>
              <a:ext cx="7484776" cy="249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D:\ESDEGUE 2017\Ago 11 Plantilla presentacion gr\ban2018-1-01-01-01.png"/>
            <p:cNvPicPr>
              <a:picLocks noChangeAspect="1" noChangeArrowheads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98790" y="-29029"/>
              <a:ext cx="373668" cy="725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Picture 2" descr="D:\ESDEGUE 2018\Ene 24 ESDEGUE vectroes\ESDEGUE-2018.png"/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977" y="13424"/>
            <a:ext cx="32317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04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D:\ESDEGUE 2017\abrl 19 Feria del libro campaña\Libros\fondo1.jpg"/>
          <p:cNvPicPr>
            <a:picLocks noChangeAspect="1" noChangeArrowheads="1"/>
          </p:cNvPicPr>
          <p:nvPr/>
        </p:nvPicPr>
        <p:blipFill rotWithShape="1">
          <a:blip r:embed="rId10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11 Rectángulo"/>
          <p:cNvSpPr/>
          <p:nvPr/>
        </p:nvSpPr>
        <p:spPr bwMode="auto">
          <a:xfrm>
            <a:off x="0" y="4944494"/>
            <a:ext cx="9144000" cy="223837"/>
          </a:xfrm>
          <a:prstGeom prst="rect">
            <a:avLst/>
          </a:prstGeom>
          <a:solidFill>
            <a:srgbClr val="002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3" name="11 CuadroTexto"/>
          <p:cNvSpPr txBox="1">
            <a:spLocks noChangeArrowheads="1"/>
          </p:cNvSpPr>
          <p:nvPr/>
        </p:nvSpPr>
        <p:spPr bwMode="auto">
          <a:xfrm>
            <a:off x="0" y="4943475"/>
            <a:ext cx="9144000" cy="2000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defPPr>
              <a:defRPr lang="es-C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s-MX" sz="700" dirty="0">
                <a:solidFill>
                  <a:schemeClr val="bg1"/>
                </a:solidFill>
              </a:rPr>
              <a:t>Todos los derechos reservados ©  - Escuela Superior de Guerra - Carrera 11 No. 102-50, Bogotá. www.esdegue.edu.co</a:t>
            </a:r>
            <a:endParaRPr lang="es-CO" sz="700" dirty="0">
              <a:solidFill>
                <a:schemeClr val="bg1"/>
              </a:solidFill>
            </a:endParaRPr>
          </a:p>
        </p:txBody>
      </p:sp>
      <p:sp>
        <p:nvSpPr>
          <p:cNvPr id="2050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 dirty="0"/>
              <a:t>Haga clic para modificar el estilo de título del patrón</a:t>
            </a:r>
            <a:endParaRPr lang="es-CO" altLang="es-CO" dirty="0"/>
          </a:p>
        </p:txBody>
      </p:sp>
      <p:sp>
        <p:nvSpPr>
          <p:cNvPr id="2051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B94F8E99-07C9-4455-8DB1-079A6DED768E}" type="datetimeFigureOut">
              <a:rPr lang="es-CO"/>
              <a:pPr>
                <a:defRPr/>
              </a:pPr>
              <a:t>19/12/18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D062535A-FF41-41A3-8B1F-7031BBF05370}" type="slidenum">
              <a:rPr lang="es-CO"/>
              <a:pPr>
                <a:defRPr/>
              </a:pPr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798" r:id="rId2"/>
    <p:sldLayoutId id="2147483812" r:id="rId3"/>
    <p:sldLayoutId id="2147483804" r:id="rId4"/>
    <p:sldLayoutId id="2147483814" r:id="rId5"/>
    <p:sldLayoutId id="2147483810" r:id="rId6"/>
    <p:sldLayoutId id="2147483801" r:id="rId7"/>
    <p:sldLayoutId id="2147483802" r:id="rId8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Oficina Seguridad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sz="2000" dirty="0" err="1"/>
              <a:t>Presentacion</a:t>
            </a:r>
            <a:r>
              <a:rPr lang="es-ES" sz="2000" dirty="0"/>
              <a:t> Plan de </a:t>
            </a:r>
            <a:r>
              <a:rPr lang="es-ES" sz="2000" dirty="0" err="1"/>
              <a:t>Accion</a:t>
            </a:r>
            <a:r>
              <a:rPr lang="es-ES" sz="2000" dirty="0"/>
              <a:t> Proceso A02 GESTION DE LA SEGURIDAD</a:t>
            </a:r>
          </a:p>
        </p:txBody>
      </p:sp>
    </p:spTree>
    <p:extLst>
      <p:ext uri="{BB962C8B-B14F-4D97-AF65-F5344CB8AC3E}">
        <p14:creationId xmlns:p14="http://schemas.microsoft.com/office/powerpoint/2010/main" val="318042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3816220" y="340179"/>
            <a:ext cx="5240696" cy="881744"/>
          </a:xfrm>
        </p:spPr>
        <p:txBody>
          <a:bodyPr/>
          <a:lstStyle/>
          <a:p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Proceso A02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GESTION DE LA SEGURIDAD</a:t>
            </a:r>
          </a:p>
        </p:txBody>
      </p:sp>
    </p:spTree>
    <p:extLst>
      <p:ext uri="{BB962C8B-B14F-4D97-AF65-F5344CB8AC3E}">
        <p14:creationId xmlns:p14="http://schemas.microsoft.com/office/powerpoint/2010/main" val="8035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DCE5B-F56F-E84D-A1F9-A4C7E1D7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Realizadas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28E8A9-8C41-A742-AD34-43CE6CF7A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803658"/>
              </p:ext>
            </p:extLst>
          </p:nvPr>
        </p:nvGraphicFramePr>
        <p:xfrm>
          <a:off x="97104" y="523566"/>
          <a:ext cx="8957883" cy="439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6769">
                  <a:extLst>
                    <a:ext uri="{9D8B030D-6E8A-4147-A177-3AD203B41FA5}">
                      <a16:colId xmlns:a16="http://schemas.microsoft.com/office/drawing/2014/main" val="2975560004"/>
                    </a:ext>
                  </a:extLst>
                </a:gridCol>
                <a:gridCol w="3811348">
                  <a:extLst>
                    <a:ext uri="{9D8B030D-6E8A-4147-A177-3AD203B41FA5}">
                      <a16:colId xmlns:a16="http://schemas.microsoft.com/office/drawing/2014/main" val="1017117275"/>
                    </a:ext>
                  </a:extLst>
                </a:gridCol>
                <a:gridCol w="4199766">
                  <a:extLst>
                    <a:ext uri="{9D8B030D-6E8A-4147-A177-3AD203B41FA5}">
                      <a16:colId xmlns:a16="http://schemas.microsoft.com/office/drawing/2014/main" val="697029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Tiempo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Actividad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Que se </a:t>
                      </a:r>
                      <a:r>
                        <a:rPr lang="en-US" sz="1200" dirty="0" err="1"/>
                        <a:t>realizo</a:t>
                      </a:r>
                      <a:r>
                        <a:rPr lang="en-US" sz="12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87075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Trimestral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Realizar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campanas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sensibilizacion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sobre</a:t>
                      </a:r>
                      <a:r>
                        <a:rPr lang="en-US" sz="1200" dirty="0"/>
                        <a:t> la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Fisica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 </a:t>
                      </a:r>
                      <a:r>
                        <a:rPr lang="en-US" sz="1200" dirty="0" err="1"/>
                        <a:t>realizaron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campanas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fisica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mostrando</a:t>
                      </a:r>
                      <a:r>
                        <a:rPr lang="en-US" sz="1200" dirty="0"/>
                        <a:t> videos </a:t>
                      </a:r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las </a:t>
                      </a:r>
                      <a:r>
                        <a:rPr lang="en-US" sz="1200" dirty="0" err="1"/>
                        <a:t>pantallas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enviando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boletines</a:t>
                      </a:r>
                      <a:r>
                        <a:rPr lang="en-US" sz="1200" dirty="0"/>
                        <a:t> a </a:t>
                      </a:r>
                      <a:r>
                        <a:rPr lang="en-US" sz="1200" dirty="0" err="1"/>
                        <a:t>los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correos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power point y 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066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Realizar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campanas</a:t>
                      </a:r>
                      <a:r>
                        <a:rPr lang="en-US" sz="1200" dirty="0"/>
                        <a:t> y </a:t>
                      </a:r>
                      <a:r>
                        <a:rPr lang="en-US" sz="1200" dirty="0" err="1"/>
                        <a:t>boletines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de 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conjunto con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y </a:t>
                      </a:r>
                      <a:r>
                        <a:rPr lang="en-US" sz="1200" dirty="0" err="1"/>
                        <a:t>salud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el </a:t>
                      </a:r>
                      <a:r>
                        <a:rPr lang="en-US" sz="1200" dirty="0" err="1"/>
                        <a:t>trabajo</a:t>
                      </a:r>
                      <a:r>
                        <a:rPr lang="en-US" sz="1200" dirty="0"/>
                        <a:t> se </a:t>
                      </a:r>
                      <a:r>
                        <a:rPr lang="en-US" sz="1200" dirty="0" err="1"/>
                        <a:t>realizaron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campanas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graficas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de personas se </a:t>
                      </a:r>
                      <a:r>
                        <a:rPr lang="en-US" sz="1200" dirty="0" err="1"/>
                        <a:t>enviaron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boletines</a:t>
                      </a:r>
                      <a:r>
                        <a:rPr lang="en-US" sz="1200" dirty="0"/>
                        <a:t> via </a:t>
                      </a:r>
                      <a:r>
                        <a:rPr lang="en-US" sz="1200" dirty="0" err="1"/>
                        <a:t>Correo</a:t>
                      </a:r>
                      <a:r>
                        <a:rPr lang="en-US" sz="1200" dirty="0"/>
                        <a:t> y </a:t>
                      </a:r>
                      <a:r>
                        <a:rPr lang="en-US" sz="1200" dirty="0" err="1"/>
                        <a:t>por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medios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electronicos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como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whatsapp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252799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Semestral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/>
                        <a:t>Gestionar</a:t>
                      </a:r>
                      <a:r>
                        <a:rPr lang="en-US" sz="1200" dirty="0"/>
                        <a:t> 12 </a:t>
                      </a:r>
                      <a:r>
                        <a:rPr lang="en-US" sz="1200" dirty="0" err="1"/>
                        <a:t>pruebas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psicotecnicas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veracidad</a:t>
                      </a:r>
                      <a:r>
                        <a:rPr lang="en-US" sz="1200" dirty="0"/>
                        <a:t> 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 </a:t>
                      </a:r>
                      <a:r>
                        <a:rPr lang="en-US" sz="1200" dirty="0" err="1"/>
                        <a:t>gestionaron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total 15 </a:t>
                      </a:r>
                      <a:r>
                        <a:rPr lang="en-US" sz="1200" dirty="0" err="1"/>
                        <a:t>pruebas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psicotecnicas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veracidad</a:t>
                      </a:r>
                      <a:r>
                        <a:rPr lang="en-US" sz="1200" dirty="0"/>
                        <a:t> con la central de </a:t>
                      </a:r>
                      <a:r>
                        <a:rPr lang="en-US" sz="1200" dirty="0" err="1"/>
                        <a:t>contrainteligencia</a:t>
                      </a:r>
                      <a:r>
                        <a:rPr lang="en-US" sz="1200" dirty="0"/>
                        <a:t> a la </a:t>
                      </a:r>
                      <a:r>
                        <a:rPr lang="en-US" sz="1200" dirty="0" err="1"/>
                        <a:t>espera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los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resultados</a:t>
                      </a:r>
                      <a:r>
                        <a:rPr lang="en-US" sz="1200" dirty="0"/>
                        <a:t> de la </a:t>
                      </a:r>
                      <a:r>
                        <a:rPr lang="en-US" sz="1200" dirty="0" err="1"/>
                        <a:t>misma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0940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Realizar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Pruebas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Vulnerabilidad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 </a:t>
                      </a:r>
                      <a:r>
                        <a:rPr lang="en-US" sz="1200" dirty="0" err="1"/>
                        <a:t>realizaron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pruebas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vulnerabilidad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tanto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por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entes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externos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como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pruebas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vulnerabilidad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realizadas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por</a:t>
                      </a:r>
                      <a:r>
                        <a:rPr lang="en-US" sz="1200" dirty="0"/>
                        <a:t> el </a:t>
                      </a:r>
                      <a:r>
                        <a:rPr lang="en-US" sz="1200" dirty="0" err="1"/>
                        <a:t>departamento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6445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Realizar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Revistas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tecnicas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fisica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Durante el </a:t>
                      </a:r>
                      <a:r>
                        <a:rPr lang="en-US" sz="1200" dirty="0" err="1"/>
                        <a:t>ano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pasaron</a:t>
                      </a:r>
                      <a:r>
                        <a:rPr lang="en-US" sz="1200" dirty="0"/>
                        <a:t> 05 </a:t>
                      </a:r>
                      <a:r>
                        <a:rPr lang="en-US" sz="1200" dirty="0" err="1"/>
                        <a:t>revistas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fisica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tanto</a:t>
                      </a:r>
                      <a:r>
                        <a:rPr lang="en-US" sz="1200" dirty="0"/>
                        <a:t> a las </a:t>
                      </a:r>
                      <a:r>
                        <a:rPr lang="en-US" sz="1200" dirty="0" err="1"/>
                        <a:t>instalaciones</a:t>
                      </a:r>
                      <a:r>
                        <a:rPr lang="en-US" sz="1200" dirty="0"/>
                        <a:t> de la ESDEG </a:t>
                      </a:r>
                      <a:r>
                        <a:rPr lang="en-US" sz="1200" dirty="0" err="1"/>
                        <a:t>como</a:t>
                      </a:r>
                      <a:r>
                        <a:rPr lang="en-US" sz="1200" dirty="0"/>
                        <a:t> al canton </a:t>
                      </a:r>
                      <a:r>
                        <a:rPr lang="en-US" sz="1200" dirty="0" err="1"/>
                        <a:t>norte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donde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nos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mostraban</a:t>
                      </a:r>
                      <a:r>
                        <a:rPr lang="en-US" sz="1200" dirty="0"/>
                        <a:t> las </a:t>
                      </a:r>
                      <a:r>
                        <a:rPr lang="en-US" sz="1200" dirty="0" err="1"/>
                        <a:t>falencias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cuanto</a:t>
                      </a:r>
                      <a:r>
                        <a:rPr lang="en-US" sz="1200" dirty="0"/>
                        <a:t> a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fisica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teniamos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77834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Coordinar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reuniones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interagenciales</a:t>
                      </a:r>
                      <a:r>
                        <a:rPr lang="en-US" sz="1200" dirty="0"/>
                        <a:t> de </a:t>
                      </a:r>
                      <a:r>
                        <a:rPr lang="en-US" sz="1200" dirty="0" err="1"/>
                        <a:t>seguridad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Las </a:t>
                      </a:r>
                      <a:r>
                        <a:rPr lang="en-US" sz="1200" dirty="0" err="1"/>
                        <a:t>reuniones</a:t>
                      </a:r>
                      <a:r>
                        <a:rPr lang="en-US" sz="1200" dirty="0"/>
                        <a:t> con </a:t>
                      </a:r>
                      <a:r>
                        <a:rPr lang="en-US" sz="1200" dirty="0" err="1"/>
                        <a:t>los</a:t>
                      </a:r>
                      <a:r>
                        <a:rPr lang="en-US" sz="1200" dirty="0"/>
                        <a:t> jefes de </a:t>
                      </a:r>
                      <a:r>
                        <a:rPr lang="en-US" sz="1200" dirty="0" err="1"/>
                        <a:t>seguridad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aledanos</a:t>
                      </a:r>
                      <a:r>
                        <a:rPr lang="en-US" sz="1200" dirty="0"/>
                        <a:t> (</a:t>
                      </a:r>
                      <a:r>
                        <a:rPr lang="en-US" sz="1200" dirty="0" err="1"/>
                        <a:t>edificios</a:t>
                      </a:r>
                      <a:r>
                        <a:rPr lang="en-US" sz="1200" dirty="0"/>
                        <a:t>, hotels, </a:t>
                      </a:r>
                      <a:r>
                        <a:rPr lang="en-US" sz="1200" dirty="0" err="1"/>
                        <a:t>Policia</a:t>
                      </a:r>
                      <a:r>
                        <a:rPr lang="en-US" sz="1200" dirty="0"/>
                        <a:t> Nacional) se </a:t>
                      </a:r>
                      <a:r>
                        <a:rPr lang="en-US" sz="1200" dirty="0" err="1"/>
                        <a:t>realizan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cada</a:t>
                      </a:r>
                      <a:r>
                        <a:rPr lang="en-US" sz="1200" dirty="0"/>
                        <a:t> 1) </a:t>
                      </a:r>
                      <a:r>
                        <a:rPr lang="en-US" sz="1200" dirty="0" err="1"/>
                        <a:t>donde</a:t>
                      </a:r>
                      <a:r>
                        <a:rPr lang="en-US" sz="1200" dirty="0"/>
                        <a:t> se </a:t>
                      </a:r>
                      <a:r>
                        <a:rPr lang="en-US" sz="1200" dirty="0" err="1"/>
                        <a:t>asistio</a:t>
                      </a:r>
                      <a:r>
                        <a:rPr lang="en-US" sz="1200" dirty="0"/>
                        <a:t> y </a:t>
                      </a:r>
                      <a:r>
                        <a:rPr lang="en-US" sz="1200" dirty="0" err="1"/>
                        <a:t>nos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mostraron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algunos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hechos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ocurridos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en</a:t>
                      </a:r>
                      <a:r>
                        <a:rPr lang="en-US" sz="1200" dirty="0"/>
                        <a:t> las </a:t>
                      </a:r>
                      <a:r>
                        <a:rPr lang="en-US" sz="1200" dirty="0" err="1"/>
                        <a:t>inmediaciones</a:t>
                      </a:r>
                      <a:r>
                        <a:rPr lang="en-US" sz="1200" dirty="0"/>
                        <a:t> a la ESDEG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19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777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DCE5B-F56F-E84D-A1F9-A4C7E1D7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7151" y="114498"/>
            <a:ext cx="7397749" cy="324853"/>
          </a:xfrm>
        </p:spPr>
        <p:txBody>
          <a:bodyPr/>
          <a:lstStyle/>
          <a:p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Realizadas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5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 bwMode="auto">
          <a:xfrm>
            <a:off x="-13648" y="4643005"/>
            <a:ext cx="4585648" cy="347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sz="1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01605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preentaciones ESDEGUE 2018 (pantalla ancha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ESDEGUE (2016) [solo lectura]" id="{FD999F41-A99B-4039-8298-88DEFADCAB17}" vid="{34558113-708C-44BB-A9C0-53BDFCA1872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PRESENTACIONES NUEVO ESCUDO ESDEGUE 2018 (pantalla ancha)</Template>
  <TotalTime>365</TotalTime>
  <Words>222</Words>
  <Application>Microsoft Macintosh PowerPoint</Application>
  <PresentationFormat>On-screen Show (16:9)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Calibri</vt:lpstr>
      <vt:lpstr>Droid Sans</vt:lpstr>
      <vt:lpstr>Plantilla preentaciones ESDEGUE 2018 (pantalla ancha)</vt:lpstr>
      <vt:lpstr>Oficina Seguridad</vt:lpstr>
      <vt:lpstr>Proceso A02 GESTION DE LA SEGURIDAD</vt:lpstr>
      <vt:lpstr>Actividades Realizadas</vt:lpstr>
      <vt:lpstr>Actividades Realizadas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Seguridad</dc:title>
  <dc:creator>MY. Cesar fernando Arias Bermudez</dc:creator>
  <cp:lastModifiedBy>Cesar Fernando Arias Bermudez</cp:lastModifiedBy>
  <cp:revision>29</cp:revision>
  <cp:lastPrinted>2018-03-27T14:05:13Z</cp:lastPrinted>
  <dcterms:created xsi:type="dcterms:W3CDTF">2018-03-01T13:22:57Z</dcterms:created>
  <dcterms:modified xsi:type="dcterms:W3CDTF">2018-12-19T18:31:44Z</dcterms:modified>
</cp:coreProperties>
</file>